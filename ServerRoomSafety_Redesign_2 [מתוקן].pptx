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58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3561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1955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rive.google.com/drive/u/1/folders/1HirWTi8BP8VBylFrAZ8akQzAT1fieUD0" TargetMode="External"/><Relationship Id="rId5" Type="http://schemas.openxmlformats.org/officeDocument/2006/relationships/hyperlink" Target="https://github.com/LanaGavris/IOT_SMART_HOME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585216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6492240" y="640080"/>
            <a:ext cx="2194560" cy="219456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6949440" y="3017520"/>
            <a:ext cx="1371600" cy="1371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600" y="110334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300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ROOM</a:t>
            </a:r>
            <a:endParaRPr lang="en-US" sz="4600" dirty="0"/>
          </a:p>
        </p:txBody>
      </p:sp>
      <p:sp>
        <p:nvSpPr>
          <p:cNvPr id="7" name="Text 3"/>
          <p:cNvSpPr/>
          <p:nvPr/>
        </p:nvSpPr>
        <p:spPr>
          <a:xfrm>
            <a:off x="229647" y="76926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300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</a:t>
            </a:r>
            <a:endParaRPr lang="en-US" sz="4600" dirty="0"/>
          </a:p>
        </p:txBody>
      </p:sp>
      <p:sp>
        <p:nvSpPr>
          <p:cNvPr id="8" name="Text 4"/>
          <p:cNvSpPr/>
          <p:nvPr/>
        </p:nvSpPr>
        <p:spPr>
          <a:xfrm>
            <a:off x="550734" y="154253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IoT-Based Real-Time Monitoring &amp; Alert System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50734" y="1942797"/>
            <a:ext cx="25603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50734" y="201313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– IoT Course  |  Final Project  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11480" y="39776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989320" y="4434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MONITORING</a:t>
            </a:r>
            <a:endParaRPr lang="en-US" sz="900" dirty="0"/>
          </a:p>
        </p:txBody>
      </p:sp>
      <p:sp>
        <p:nvSpPr>
          <p:cNvPr id="24" name="מלבן 23"/>
          <p:cNvSpPr/>
          <p:nvPr/>
        </p:nvSpPr>
        <p:spPr>
          <a:xfrm>
            <a:off x="135903" y="4042254"/>
            <a:ext cx="46169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6B7280"/>
                </a:solidFill>
                <a:latin typeface="Consolas" pitchFamily="34" charset="0"/>
              </a:rPr>
              <a:t>Students: Svetlana </a:t>
            </a:r>
            <a:r>
              <a:rPr lang="en-US" dirty="0" err="1" smtClean="0">
                <a:solidFill>
                  <a:srgbClr val="6B7280"/>
                </a:solidFill>
                <a:latin typeface="Consolas" pitchFamily="34" charset="0"/>
              </a:rPr>
              <a:t>Gavris</a:t>
            </a:r>
            <a:r>
              <a:rPr lang="en-US" dirty="0" smtClean="0">
                <a:solidFill>
                  <a:srgbClr val="6B7280"/>
                </a:solidFill>
                <a:latin typeface="Consolas" pitchFamily="34" charset="0"/>
              </a:rPr>
              <a:t> 342794732</a:t>
            </a:r>
          </a:p>
          <a:p>
            <a:r>
              <a:rPr lang="en-US" dirty="0" smtClean="0">
                <a:solidFill>
                  <a:srgbClr val="6B7280"/>
                </a:solidFill>
                <a:latin typeface="Consolas" pitchFamily="34" charset="0"/>
              </a:rPr>
              <a:t>	   </a:t>
            </a:r>
            <a:r>
              <a:rPr lang="en-US" dirty="0" err="1" smtClean="0">
                <a:solidFill>
                  <a:srgbClr val="6B7280"/>
                </a:solidFill>
                <a:latin typeface="Consolas" pitchFamily="34" charset="0"/>
              </a:rPr>
              <a:t>Shirin</a:t>
            </a:r>
            <a:r>
              <a:rPr lang="en-US" dirty="0" smtClean="0">
                <a:solidFill>
                  <a:srgbClr val="6B7280"/>
                </a:solidFill>
                <a:latin typeface="Consolas" pitchFamily="34" charset="0"/>
              </a:rPr>
              <a:t> </a:t>
            </a:r>
            <a:r>
              <a:rPr lang="en-US" dirty="0" err="1" smtClean="0">
                <a:solidFill>
                  <a:srgbClr val="6B7280"/>
                </a:solidFill>
                <a:latin typeface="Consolas" pitchFamily="34" charset="0"/>
              </a:rPr>
              <a:t>Fakiri</a:t>
            </a:r>
            <a:r>
              <a:rPr lang="en-US" dirty="0" smtClean="0">
                <a:solidFill>
                  <a:srgbClr val="6B7280"/>
                </a:solidFill>
                <a:latin typeface="Consolas" pitchFamily="34" charset="0"/>
              </a:rPr>
              <a:t>   208154815</a:t>
            </a:r>
            <a:endParaRPr lang="en-US" dirty="0"/>
          </a:p>
        </p:txBody>
      </p:sp>
      <p:sp>
        <p:nvSpPr>
          <p:cNvPr id="25" name="Text 4"/>
          <p:cNvSpPr/>
          <p:nvPr/>
        </p:nvSpPr>
        <p:spPr>
          <a:xfrm>
            <a:off x="228600" y="3398429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Link</a:t>
            </a:r>
            <a:r>
              <a:rPr lang="en-US" sz="1500" dirty="0" smtClean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500" dirty="0" smtClean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tooltip="https://github.com/LanaGavris/IOT_SMART_HOME"/>
              </a:rPr>
              <a:t>https</a:t>
            </a: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tooltip="https://github.com/LanaGavris/IOT_SMART_HOME"/>
              </a:rPr>
              <a:t>://github.com/LanaGavris/IOT_SMART_HOME</a:t>
            </a:r>
            <a:endParaRPr lang="en-US" sz="1500" dirty="0"/>
          </a:p>
        </p:txBody>
      </p:sp>
      <p:sp>
        <p:nvSpPr>
          <p:cNvPr id="27" name="מלבן 26"/>
          <p:cNvSpPr/>
          <p:nvPr/>
        </p:nvSpPr>
        <p:spPr>
          <a:xfrm>
            <a:off x="228600" y="2707478"/>
            <a:ext cx="521208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the presentation and running the code : </a:t>
            </a:r>
            <a:r>
              <a:rPr lang="en-US" sz="1400" dirty="0">
                <a:solidFill>
                  <a:schemeClr val="accent1"/>
                </a:solidFill>
                <a:hlinkClick r:id="rId6"/>
              </a:rPr>
              <a:t>https://drive.google.com/drive/u/1/folders/1HirWTi8BP8VBylFrAZ8akQzAT1fieUD0</a:t>
            </a:r>
            <a:endParaRPr lang="ru-RU" sz="14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THE PROBLEM?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22860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5546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Room Safety  ·  IoT Course Project  ·  HiveMQ · MQTT · Python · SQLite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0" y="914400"/>
            <a:ext cx="5486400" cy="749808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914400"/>
            <a:ext cx="45720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932688"/>
            <a:ext cx="53035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ROOM SAFETY SYSTEM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20240" y="1280160"/>
            <a:ext cx="53035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IOT MONITORING &amp; AUTOMATIC ALERTS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1828800"/>
            <a:ext cx="2011680" cy="1828800"/>
          </a:xfrm>
          <a:prstGeom prst="rect">
            <a:avLst/>
          </a:prstGeom>
          <a:solidFill>
            <a:srgbClr val="1F2937"/>
          </a:solidFill>
          <a:ln w="1270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2024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20040" y="2450592"/>
            <a:ext cx="182880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know the temperature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server room right now?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404872" y="1828800"/>
            <a:ext cx="2011680" cy="1828800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112" y="192024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96312" y="2450592"/>
            <a:ext cx="182880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get notified when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room overheats?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581144" y="1828800"/>
            <a:ext cx="2011680" cy="1828800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8384" y="192024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72584" y="2450592"/>
            <a:ext cx="182880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know if someone opened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room door?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757416" y="1828800"/>
            <a:ext cx="2011680" cy="1828800"/>
          </a:xfrm>
          <a:prstGeom prst="rect">
            <a:avLst/>
          </a:prstGeom>
          <a:solidFill>
            <a:srgbClr val="1F2937"/>
          </a:solidFill>
          <a:ln w="12700">
            <a:solidFill>
              <a:srgbClr val="06B6D4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192024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48856" y="2450592"/>
            <a:ext cx="182880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detect smoke or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CO2 before damage occurs?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228600" y="3822192"/>
            <a:ext cx="8686800" cy="411480"/>
          </a:xfrm>
          <a:prstGeom prst="rect">
            <a:avLst/>
          </a:prstGeom>
          <a:solidFill>
            <a:srgbClr val="1A122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365760" y="383133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If one of your answers is NO — this system is for you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22860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5546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Room Safety  ·  IoT Course Project  ·  HiveMQ · MQTT · Python · SQLite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2011680" cy="1508760"/>
          </a:xfrm>
          <a:prstGeom prst="rect">
            <a:avLst/>
          </a:prstGeom>
          <a:solidFill>
            <a:srgbClr val="1F293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914400"/>
            <a:ext cx="45720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2412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58952" y="1024128"/>
            <a:ext cx="138988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&amp; Humidity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20040" y="1481328"/>
            <a:ext cx="18288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sensor · every 2 sec · 4 scenarios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404872" y="914400"/>
            <a:ext cx="2011680" cy="1508760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04872" y="914400"/>
            <a:ext cx="45720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6312" y="1024128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35224" y="1024128"/>
            <a:ext cx="138988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&amp; CO₂ Detection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496312" y="1481328"/>
            <a:ext cx="18288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+ MQ-135 · every 3 sec · ppm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581144" y="914400"/>
            <a:ext cx="2011680" cy="1508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581144" y="914400"/>
            <a:ext cx="45720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1024128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11496" y="1024128"/>
            <a:ext cx="138988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Event Detection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672584" y="1481328"/>
            <a:ext cx="18288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alert on any open/close event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757416" y="914400"/>
            <a:ext cx="2011680" cy="1508760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757416" y="914400"/>
            <a:ext cx="45720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856" y="1024128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87768" y="1024128"/>
            <a:ext cx="138988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Alert Levels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6848856" y="1481328"/>
            <a:ext cx="18288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(elevated) and ALARM (critical)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228600" y="2578608"/>
            <a:ext cx="2011680" cy="1508760"/>
          </a:xfrm>
          <a:prstGeom prst="rect">
            <a:avLst/>
          </a:prstGeom>
          <a:solidFill>
            <a:srgbClr val="1F293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228600" y="2578608"/>
            <a:ext cx="45720" cy="1508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2688336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58952" y="2688336"/>
            <a:ext cx="138988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Response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320040" y="3145536"/>
            <a:ext cx="18288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+ Cooling relay ON when ALARM fires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2404872" y="2578608"/>
            <a:ext cx="2011680" cy="1508760"/>
          </a:xfrm>
          <a:prstGeom prst="rect">
            <a:avLst/>
          </a:prstGeom>
          <a:solidFill>
            <a:srgbClr val="1F293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2404872" y="2578608"/>
            <a:ext cx="45720" cy="1508760"/>
          </a:xfrm>
          <a:prstGeom prst="rect">
            <a:avLst/>
          </a:prstGeom>
          <a:solidFill>
            <a:srgbClr val="8B5CF6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6312" y="2688336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2935224" y="2688336"/>
            <a:ext cx="138988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Logging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2496312" y="3145536"/>
            <a:ext cx="18288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readings stored in SQLite database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4581144" y="2578608"/>
            <a:ext cx="2011680" cy="1508760"/>
          </a:xfrm>
          <a:prstGeom prst="rect">
            <a:avLst/>
          </a:prstGeom>
          <a:solidFill>
            <a:srgbClr val="1F293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4581144" y="2578608"/>
            <a:ext cx="45720" cy="1508760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2584" y="2688336"/>
            <a:ext cx="365760" cy="36576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111496" y="2688336"/>
            <a:ext cx="138988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050" dirty="0"/>
          </a:p>
        </p:txBody>
      </p:sp>
      <p:sp>
        <p:nvSpPr>
          <p:cNvPr id="41" name="Text 32"/>
          <p:cNvSpPr/>
          <p:nvPr/>
        </p:nvSpPr>
        <p:spPr>
          <a:xfrm>
            <a:off x="4672584" y="3145536"/>
            <a:ext cx="18288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· live charts · color indicators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6757416" y="2578608"/>
            <a:ext cx="2011680" cy="1508760"/>
          </a:xfrm>
          <a:prstGeom prst="rect">
            <a:avLst/>
          </a:prstGeom>
          <a:solidFill>
            <a:srgbClr val="1F2937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6757416" y="2578608"/>
            <a:ext cx="45720" cy="1508760"/>
          </a:xfrm>
          <a:prstGeom prst="rect">
            <a:avLst/>
          </a:prstGeom>
          <a:solidFill>
            <a:srgbClr val="9CA3A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48856" y="2688336"/>
            <a:ext cx="365760" cy="36576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7287768" y="2688336"/>
            <a:ext cx="138988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Scenarios</a:t>
            </a:r>
            <a:endParaRPr lang="en-US" sz="1050" dirty="0"/>
          </a:p>
        </p:txBody>
      </p:sp>
      <p:sp>
        <p:nvSpPr>
          <p:cNvPr id="46" name="Text 36"/>
          <p:cNvSpPr/>
          <p:nvPr/>
        </p:nvSpPr>
        <p:spPr>
          <a:xfrm>
            <a:off x="6848856" y="3145536"/>
            <a:ext cx="18288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/ heating / cooling / smoke / critical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 THE HOOD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22860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5546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Room Safety  ·  IoT Course Project  ·  HiveMQ · MQTT · Python · SQLite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0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914400"/>
            <a:ext cx="45720" cy="2743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960120"/>
            <a:ext cx="37490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(Emulated in Python)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16736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58368" y="1335024"/>
            <a:ext cx="10058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682496" y="1335024"/>
            <a:ext cx="24231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&amp; Humidity</a:t>
            </a:r>
            <a:endParaRPr lang="en-US" sz="9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73736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8368" y="1755648"/>
            <a:ext cx="10058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682496" y="1755648"/>
            <a:ext cx="24231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detector (ppm)</a:t>
            </a:r>
            <a:endParaRPr lang="en-US" sz="9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15798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8368" y="2176272"/>
            <a:ext cx="10058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MQ-135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682496" y="2176272"/>
            <a:ext cx="24231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 / Air quality (ppm)</a:t>
            </a:r>
            <a:endParaRPr lang="en-US" sz="9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578608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8368" y="2596896"/>
            <a:ext cx="10058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Contact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682496" y="2596896"/>
            <a:ext cx="24231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CLOSED sensor</a:t>
            </a:r>
            <a:endParaRPr lang="en-US" sz="9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2999232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58368" y="3017520"/>
            <a:ext cx="10058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Knob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1682496" y="3017520"/>
            <a:ext cx="24231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0–100%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4480560" y="914400"/>
            <a:ext cx="4434840" cy="274320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480560" y="914400"/>
            <a:ext cx="45720" cy="2743200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4572000" y="960120"/>
            <a:ext cx="41605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MODULES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572000" y="1335024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dht_emulator.py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6510528" y="1335024"/>
            <a:ext cx="22860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temp &amp; humidity publisher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4572000" y="1719072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smoke_emulator.py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6510528" y="1719072"/>
            <a:ext cx="22860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smoke &amp; CO2 publisher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4572000" y="2103120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button_emulator.py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6510528" y="2103120"/>
            <a:ext cx="22860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door &amp; fan publisher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4572000" y="2487168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data_manager.py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6510528" y="2487168"/>
            <a:ext cx="22860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threshold engine + DB logger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4572000" y="2871216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gui_app.py</a:t>
            </a:r>
            <a:endParaRPr lang="en-US" sz="950" dirty="0"/>
          </a:p>
        </p:txBody>
      </p:sp>
      <p:sp>
        <p:nvSpPr>
          <p:cNvPr id="37" name="Text 30"/>
          <p:cNvSpPr/>
          <p:nvPr/>
        </p:nvSpPr>
        <p:spPr>
          <a:xfrm>
            <a:off x="6510528" y="2871216"/>
            <a:ext cx="22860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tkinter live dashboard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4572000" y="3255264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config.py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6510528" y="3255264"/>
            <a:ext cx="22860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central settings (broker…)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228600" y="3767328"/>
            <a:ext cx="868680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320040" y="37764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 Python 3.8  |  paho-mqtt  |  SQLite3  |  tkinter  |  HiveMQ Public Broker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DOES IT WORK?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22860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5546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Room Safety  ·  IoT Course Project  ·  HiveMQ · MQTT · Python · SQLite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56032" y="914400"/>
            <a:ext cx="182880" cy="182880"/>
          </a:xfrm>
          <a:prstGeom prst="line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877824"/>
            <a:ext cx="84124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publish readings periodically via MQTT to the HiveMQ broker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6032" y="1261872"/>
            <a:ext cx="182880" cy="182880"/>
          </a:xfrm>
          <a:prstGeom prst="line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225296"/>
            <a:ext cx="84124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Manager subscribes to all topics, checks thresholds, triggers alerts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6032" y="1609344"/>
            <a:ext cx="182880" cy="182880"/>
          </a:xfrm>
          <a:prstGeom prst="line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572768"/>
            <a:ext cx="84124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threshold exceeded — WARNING or ALARM is published + relays activated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28600" y="2057400"/>
            <a:ext cx="1554480" cy="804672"/>
          </a:xfrm>
          <a:prstGeom prst="rect">
            <a:avLst/>
          </a:prstGeom>
          <a:solidFill>
            <a:srgbClr val="1F293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" y="2148840"/>
            <a:ext cx="1408176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Temp+Humidity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944368"/>
            <a:ext cx="1554480" cy="804672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3035808"/>
            <a:ext cx="1408176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/ MQ-135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+ CO2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3831336"/>
            <a:ext cx="1554480" cy="658368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" y="3922776"/>
            <a:ext cx="1408176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Contact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783080" y="2340864"/>
            <a:ext cx="1298448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94560" y="2194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783080" y="3346704"/>
            <a:ext cx="1298448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94560" y="3200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783080" y="4169664"/>
            <a:ext cx="1298448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40233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081528" y="2029968"/>
            <a:ext cx="1920240" cy="2743200"/>
          </a:xfrm>
          <a:prstGeom prst="rect">
            <a:avLst/>
          </a:prstGeom>
          <a:solidFill>
            <a:srgbClr val="0B1A3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81528" y="2029968"/>
            <a:ext cx="192024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0" y="2029968"/>
            <a:ext cx="18653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108960" y="2395728"/>
            <a:ext cx="186537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(HiveMQ)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108960" y="2834640"/>
            <a:ext cx="1865376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broker.hivemq.com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:1883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127248" y="3401568"/>
            <a:ext cx="182880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commands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(fan/cooling ON)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01768" y="2423160"/>
            <a:ext cx="45720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2258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58968" y="2057400"/>
            <a:ext cx="1828800" cy="777240"/>
          </a:xfrm>
          <a:prstGeom prst="rect">
            <a:avLst/>
          </a:prstGeom>
          <a:solidFill>
            <a:srgbClr val="1F293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32120" y="2112264"/>
            <a:ext cx="1682496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(threshold engine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SQLite logger)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01768" y="3493008"/>
            <a:ext cx="45720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3328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458968" y="3127248"/>
            <a:ext cx="1828800" cy="777240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32120" y="3182112"/>
            <a:ext cx="1682496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Dashboard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(live view)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01768" y="4297680"/>
            <a:ext cx="45720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0" y="4133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458968" y="3931920"/>
            <a:ext cx="1828800" cy="777240"/>
          </a:xfrm>
          <a:prstGeom prst="rect">
            <a:avLst/>
          </a:prstGeom>
          <a:solidFill>
            <a:srgbClr val="1F293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32120" y="3986784"/>
            <a:ext cx="1682496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WebSocket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458968" y="3611880"/>
            <a:ext cx="0" cy="36576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FLOWS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22860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5546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Room Safety  ·  IoT Course Project  ·  HiveMQ · MQTT · Python · SQLite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89611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PUBLISHES TEMPERATURE EVERY 2 SECONDS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8600" y="1170432"/>
            <a:ext cx="1920240" cy="749808"/>
          </a:xfrm>
          <a:prstGeom prst="rect">
            <a:avLst/>
          </a:prstGeom>
          <a:solidFill>
            <a:srgbClr val="1F293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" y="1225296"/>
            <a:ext cx="1810512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Sensor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(temp rising)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4884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23160" y="1170432"/>
            <a:ext cx="1920240" cy="749808"/>
          </a:xfrm>
          <a:prstGeom prst="rect">
            <a:avLst/>
          </a:prstGeom>
          <a:solidFill>
            <a:srgbClr val="1F2937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78024" y="1225296"/>
            <a:ext cx="1810512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serverroom_safety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_g7x2/temperature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4340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17720" y="1170432"/>
            <a:ext cx="1920240" cy="749808"/>
          </a:xfrm>
          <a:prstGeom prst="rect">
            <a:avLst/>
          </a:prstGeom>
          <a:solidFill>
            <a:srgbClr val="0B1A3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1170432"/>
            <a:ext cx="192024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170432"/>
            <a:ext cx="182880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63440" y="1408176"/>
            <a:ext cx="18288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(HiveMQ)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3796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12280" y="1170432"/>
            <a:ext cx="1920240" cy="749808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67144" y="1225296"/>
            <a:ext cx="1810512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SQLite DB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8600" y="21305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THRESHOLD EXCEEDED → ALERT PUBLISHED → RELAY ACTIVATED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8600" y="2404872"/>
            <a:ext cx="1920240" cy="749808"/>
          </a:xfrm>
          <a:prstGeom prst="rect">
            <a:avLst/>
          </a:prstGeom>
          <a:solidFill>
            <a:srgbClr val="1F293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464" y="2459736"/>
            <a:ext cx="1810512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&gt;= 35°C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triggered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14884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423160" y="2404872"/>
            <a:ext cx="1920240" cy="749808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78024" y="2459736"/>
            <a:ext cx="1810512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alert/alarm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control/fan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34340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617720" y="2404872"/>
            <a:ext cx="1920240" cy="749808"/>
          </a:xfrm>
          <a:prstGeom prst="rect">
            <a:avLst/>
          </a:prstGeom>
          <a:solidFill>
            <a:srgbClr val="0B1A3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2404872"/>
            <a:ext cx="192024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404872"/>
            <a:ext cx="182880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63440" y="2642616"/>
            <a:ext cx="18288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(HiveMQ)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3796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812280" y="2404872"/>
            <a:ext cx="1920240" cy="749808"/>
          </a:xfrm>
          <a:prstGeom prst="rect">
            <a:avLst/>
          </a:prstGeom>
          <a:solidFill>
            <a:srgbClr val="1F293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67144" y="2459736"/>
            <a:ext cx="1810512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Relay 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speed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28600" y="336499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OPEN EVENT → WARNING PUBLISHED IMMEDIATELY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28600" y="3639312"/>
            <a:ext cx="1920240" cy="749808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3464" y="3694176"/>
            <a:ext cx="1810512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Contact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OPEN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14884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2423160" y="3639312"/>
            <a:ext cx="1920240" cy="749808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78024" y="3694176"/>
            <a:ext cx="1810512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alert/warning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(door open)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34340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617720" y="3639312"/>
            <a:ext cx="1920240" cy="749808"/>
          </a:xfrm>
          <a:prstGeom prst="rect">
            <a:avLst/>
          </a:prstGeom>
          <a:solidFill>
            <a:srgbClr val="0B1A3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17720" y="3639312"/>
            <a:ext cx="192024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3639312"/>
            <a:ext cx="182880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663440" y="3877056"/>
            <a:ext cx="18288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(HiveMQ)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53796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812280" y="3639312"/>
            <a:ext cx="1920240" cy="749808"/>
          </a:xfrm>
          <a:prstGeom prst="rect">
            <a:avLst/>
          </a:prstGeom>
          <a:solidFill>
            <a:srgbClr val="1F293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67144" y="3694176"/>
            <a:ext cx="1810512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Dashboard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SQLite alert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&amp; DEVELOPMENT STAGES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22860"/>
          </a:xfrm>
          <a:prstGeom prst="rect">
            <a:avLst/>
          </a:prstGeom>
          <a:solidFill>
            <a:srgbClr val="8B5C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68680"/>
            <a:ext cx="347472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68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886968"/>
            <a:ext cx="82296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REQUIREMENTS &amp; SENSOR SELECTION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" y="1280160"/>
            <a:ext cx="54864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252728"/>
            <a:ext cx="78638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monitored parameters: temperature, humidity, smoke, CO2, door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" y="1572768"/>
            <a:ext cx="54864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1545336"/>
            <a:ext cx="78638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alert thresholds for WARNING and ALARM levels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1856232"/>
            <a:ext cx="347472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1856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1874520"/>
            <a:ext cx="82296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MQTT ARCHITECTURE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" y="2267712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2240280"/>
            <a:ext cx="78638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unique topic structure with project prefix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4672" y="2560320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2532888"/>
            <a:ext cx="78638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HiveMQ public broker (TCP 1883 / WebSocket 8000)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843784"/>
            <a:ext cx="347472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843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2862072"/>
            <a:ext cx="82296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PYTHON MODULES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" y="3255264"/>
            <a:ext cx="54864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3227832"/>
            <a:ext cx="78638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emulators (dht, smoke, button) with realistic simulation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4672" y="3547872"/>
            <a:ext cx="54864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3520440"/>
            <a:ext cx="78638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manager: threshold engine + auto-remediation + SQLite logging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4672" y="3840480"/>
            <a:ext cx="54864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9918" y="3790188"/>
            <a:ext cx="78638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dashboard: live display of all sensor values</a:t>
            </a:r>
            <a:endParaRPr lang="en-US" sz="1000" dirty="0"/>
          </a:p>
        </p:txBody>
      </p:sp>
      <p:grpSp>
        <p:nvGrpSpPr>
          <p:cNvPr id="37" name="קבוצה 36"/>
          <p:cNvGrpSpPr/>
          <p:nvPr/>
        </p:nvGrpSpPr>
        <p:grpSpPr>
          <a:xfrm>
            <a:off x="155448" y="4133088"/>
            <a:ext cx="8641080" cy="932688"/>
            <a:chOff x="228600" y="3831336"/>
            <a:chExt cx="8641080" cy="932688"/>
          </a:xfrm>
        </p:grpSpPr>
        <p:sp>
          <p:nvSpPr>
            <p:cNvPr id="30" name="Shape 28"/>
            <p:cNvSpPr/>
            <p:nvPr/>
          </p:nvSpPr>
          <p:spPr>
            <a:xfrm>
              <a:off x="246888" y="3840480"/>
              <a:ext cx="347472" cy="347472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000000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228600" y="3831336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0B1120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4</a:t>
              </a:r>
              <a:endParaRPr lang="en-US" sz="16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640080" y="3849624"/>
              <a:ext cx="8229600" cy="31089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INTEGRATE AND TEST</a:t>
              </a:r>
              <a:endParaRPr lang="en-US" sz="11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804672" y="4242816"/>
              <a:ext cx="54864" cy="164592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000000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932688" y="4215384"/>
              <a:ext cx="786384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CA3A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Run all modules simultaneously via run_all.py</a:t>
              </a:r>
              <a:endParaRPr lang="en-US" sz="10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804672" y="4535424"/>
              <a:ext cx="54864" cy="164592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000000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932688" y="4507992"/>
              <a:ext cx="786384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CA3A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Verify alerts, relay commands, and DB logging with multiple scenarios</a:t>
              </a:r>
              <a:endParaRPr lang="en-US" sz="1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IN ACTION — SENSOR OUTPUT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22860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5546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Room Safety  ·  IoT Course Project  ·  HiveMQ · MQTT · Python · SQLite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206240" cy="1938528"/>
          </a:xfrm>
          <a:prstGeom prst="rect">
            <a:avLst/>
          </a:prstGeom>
          <a:solidFill>
            <a:srgbClr val="060D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914400"/>
            <a:ext cx="420624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914400"/>
            <a:ext cx="405993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dht_emulator.py  --scenario heating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1225296"/>
            <a:ext cx="40233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[DHT] HiveMQ broker: broker.hivemq.com:1883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[DHT] Scenario: heating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[DHT] Broker: OK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[DHT] tick=0000  temp=21.88C  hum=45.88%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[DHT] tick=0001  temp=22.34C  hum=44.59%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[DHT] tick=0020  temp=28.41C  hum=43.22%  &lt;- WARNING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[DHT] tick=0047  temp=36.20C  hum=41.88%  &lt;- ALARM!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206240" cy="1938528"/>
          </a:xfrm>
          <a:prstGeom prst="rect">
            <a:avLst/>
          </a:prstGeom>
          <a:solidFill>
            <a:srgbClr val="060D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914400"/>
            <a:ext cx="420624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914400"/>
            <a:ext cx="405993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smoke_emulator.py  --scenario smoke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0" y="1225296"/>
            <a:ext cx="40233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[SMOKE] Scenario: smoke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[SMOKE] Connected -&gt; broker.hivemq.com:1883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[SMOKE] tick=0000  smoke=  42.5ppm  co2=  587.3ppm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[SMOKE] tick=0001  smoke=  50.9ppm  co2=  608.4ppm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[SMOKE] tick=0010  smoke= 212.0ppm  co2= 1143.0ppm &lt;- WARNING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[SMOKE] tick=0030  smoke= 516.3ppm  co2= 2087.5ppm &lt;- ALARM!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8600" y="2944368"/>
            <a:ext cx="8641080" cy="2102282"/>
          </a:xfrm>
          <a:prstGeom prst="rect">
            <a:avLst/>
          </a:prstGeom>
          <a:solidFill>
            <a:srgbClr val="060D1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944368"/>
            <a:ext cx="8641080" cy="256032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" y="2944368"/>
            <a:ext cx="849477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data_manager.py  output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" y="3255264"/>
            <a:ext cx="84582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[DM] Connected -&gt; broker.hivemq.com:1883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[DM] Sub: serverroom_safety_g7x2/temperature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[DM] Sub: serverroom_safety_g7x2/smoke  ...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[ALERT] WARNING: TEMPERATURE elevated. 28.4C &gt;= 28.0C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[ALERT] ALARM:   TEMPERATURE critical! 36.2C &gt;= 35.0C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[AUTO] -&gt; FAN ON speed=100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[AUTO] -&gt; COOLING ON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[ALERT] WARNING: Server room door OPEN!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[DB STATS] readings=793  warnings=18  alarms=3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42484" y="-51065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MQTT PAYLOADS — REAL EXAMPLES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96764" y="362506"/>
            <a:ext cx="8686800" cy="22860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2484" y="4366634"/>
            <a:ext cx="8774865" cy="251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Room Safety  ·  IoT Course Project  ·  HiveMQ · MQTT · Python · SQLite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14754" y="570055"/>
            <a:ext cx="2724912" cy="2016946"/>
          </a:xfrm>
          <a:prstGeom prst="rect">
            <a:avLst/>
          </a:prstGeom>
          <a:solidFill>
            <a:srgbClr val="060D1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520034"/>
            <a:ext cx="2724912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520034"/>
            <a:ext cx="2578608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Reading Payload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830930"/>
            <a:ext cx="2542032" cy="136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Topic: serverroom_safety_g7x2/temperature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"sensor": "DHT22",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"unit":   "celsius",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"value":  36.2,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"tick":   47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18688" y="520034"/>
            <a:ext cx="2724912" cy="2066967"/>
          </a:xfrm>
          <a:prstGeom prst="rect">
            <a:avLst/>
          </a:prstGeom>
          <a:solidFill>
            <a:srgbClr val="060D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18688" y="520034"/>
            <a:ext cx="2724912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520034"/>
            <a:ext cx="2578608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Payload (alert/alarm)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10128" y="830930"/>
            <a:ext cx="2542032" cy="1718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Topic: serverroom_safety_g7x2/alert/alarm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"timestamp": "2025-05-28T10:15:32",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"level":     "ALARM",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"sensor":    "temperature",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"value":     36.2,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"threshold": 35.0,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"message":   "ALARM: TEMPERATURE critical!"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17336" y="435528"/>
            <a:ext cx="2724912" cy="2286000"/>
          </a:xfrm>
          <a:prstGeom prst="rect">
            <a:avLst/>
          </a:prstGeom>
          <a:solidFill>
            <a:srgbClr val="060D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17336" y="435528"/>
            <a:ext cx="272491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435528"/>
            <a:ext cx="2578608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+ Door Warning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08776" y="746424"/>
            <a:ext cx="2542032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Topic: serverroom_safety_g7x2/control/fan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 smtClean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850" dirty="0" smtClean="0"/>
              <a:t>\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smtClean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"command</a:t>
            </a: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"ON",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"speed":    100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 smtClean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Topic: .../alert/warning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"level":   "WARNING",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"sensor":  "door",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"message": "Server room door OPEN!"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6764" y="2821298"/>
            <a:ext cx="8868214" cy="2322202"/>
          </a:xfrm>
          <a:prstGeom prst="rect">
            <a:avLst/>
          </a:prstGeom>
          <a:solidFill>
            <a:srgbClr val="060D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764" y="2821298"/>
            <a:ext cx="8868214" cy="251621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9916" y="2821298"/>
            <a:ext cx="8718855" cy="251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Code: Threshold &amp; Auto-Remediation Logic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88204" y="3132195"/>
            <a:ext cx="8681514" cy="1060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data_manager.py — threshold engine</a:t>
            </a:r>
            <a:endParaRPr lang="en-US" sz="9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evaluate(client, conn, sensor_type, value):</a:t>
            </a:r>
            <a:endParaRPr lang="en-US" sz="9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 = THRESHOLDS[sensor_type]</a:t>
            </a:r>
            <a:endParaRPr lang="en-US" sz="9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value &gt;= th["alarm"]:</a:t>
            </a:r>
            <a:endParaRPr lang="en-US" sz="9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level = "ALARM"                          # auto-remediation</a:t>
            </a:r>
            <a:endParaRPr lang="en-US" sz="9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sensor_type == "temperature":</a:t>
            </a:r>
            <a:endParaRPr lang="en-US" sz="9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r>
              <a:rPr lang="en-US" sz="900" dirty="0" smtClean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</a:t>
            </a: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relay(client, T["ctrl_fan"], "ON", speed=100)</a:t>
            </a:r>
            <a:endParaRPr lang="en-US" sz="9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_relay(client, T["ctrl_cooling"], "ON")</a:t>
            </a:r>
            <a:endParaRPr lang="en-US" sz="9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value &gt;= th["warning"]:</a:t>
            </a:r>
            <a:endParaRPr lang="en-US" sz="9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level = "WARNING"</a:t>
            </a:r>
            <a:endParaRPr lang="en-US" sz="9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client.publish(topic, payload, qos=1)</a:t>
            </a:r>
            <a:endParaRPr lang="en-US" sz="9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insert_alert(conn, level, sensor_type, value, msg)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22860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5546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Room Safety  ·  IoT Course Project  ·  HiveMQ · MQTT · Python · SQLite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1920240" cy="1097280"/>
          </a:xfrm>
          <a:prstGeom prst="rect">
            <a:avLst/>
          </a:prstGeom>
          <a:solidFill>
            <a:srgbClr val="1F2937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960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 smtClean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793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28600" y="1627632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Readings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SQLite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77440" y="914400"/>
            <a:ext cx="1920240" cy="1097280"/>
          </a:xfrm>
          <a:prstGeom prst="rect">
            <a:avLst/>
          </a:prstGeom>
          <a:solidFill>
            <a:srgbClr val="1F293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960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 smtClean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377440" y="1627632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Alerts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26280" y="914400"/>
            <a:ext cx="1920240" cy="1097280"/>
          </a:xfrm>
          <a:prstGeom prst="rect">
            <a:avLst/>
          </a:prstGeom>
          <a:solidFill>
            <a:srgbClr val="1F2937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960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 smtClean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526280" y="1627632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Events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75120" y="914400"/>
            <a:ext cx="1920240" cy="1097280"/>
          </a:xfrm>
          <a:prstGeom prst="rect">
            <a:avLst/>
          </a:prstGeom>
          <a:solidFill>
            <a:srgbClr val="1F293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960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1s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675120" y="1627632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Fan/Cooling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148840"/>
            <a:ext cx="4023360" cy="2377440"/>
          </a:xfrm>
          <a:prstGeom prst="rect">
            <a:avLst/>
          </a:prstGeom>
          <a:solidFill>
            <a:srgbClr val="1F293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2148840"/>
            <a:ext cx="45720" cy="2377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194560"/>
            <a:ext cx="3840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WebSocket Demo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" y="2633472"/>
            <a:ext cx="128016" cy="128016"/>
          </a:xfrm>
          <a:prstGeom prst="line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2606040"/>
            <a:ext cx="36118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Connect: broker.hivemq.com  Port: 8000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9184" y="2980944"/>
            <a:ext cx="128016" cy="128016"/>
          </a:xfrm>
          <a:prstGeom prst="line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" y="2953512"/>
            <a:ext cx="36118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Subscribe: serverroom_safety_g7x2/#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9184" y="3328416"/>
            <a:ext cx="128016" cy="128016"/>
          </a:xfrm>
          <a:prstGeom prst="line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" y="3300984"/>
            <a:ext cx="36118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all MQTT messages in real time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80560" y="2148840"/>
            <a:ext cx="4434840" cy="2377440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80560" y="2148840"/>
            <a:ext cx="45720" cy="2377440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the demo: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0" y="2606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run_all.py --scenario heating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0" y="2944368"/>
            <a:ext cx="42062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Launches: dht_emulator, smoke_emulator,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0" y="3236976"/>
            <a:ext cx="42062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button_emulator, data_manager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0" y="3529584"/>
            <a:ext cx="42062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Temperature rises -&gt; ALARM -&gt; Fan 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28600" y="4133088"/>
            <a:ext cx="868680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160520"/>
            <a:ext cx="25603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Tables: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0040" y="44348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sensor_readings  (id, timestamp, sensor_type, value, unit)   |   device_states    (id, timestamp, device, state, extra)   |   alerts           (id, timestamp, level, sensor_type, value, message)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 AND CONCLUSIONS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22860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5546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Room Safety  ·  IoT Course Project  ·  HiveMQ · MQTT · Python · SQLite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868680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32688"/>
            <a:ext cx="850392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Room Safety — IoT monitoring system for detecting temperature alerts and door events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508760"/>
            <a:ext cx="4206240" cy="2651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508760"/>
            <a:ext cx="45720" cy="2651760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554480"/>
            <a:ext cx="402336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RESOLVED IT: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" y="1938528"/>
            <a:ext cx="54864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20240"/>
            <a:ext cx="385876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Python modules communicate via MQTT pub/sub — sensors publish, data manager reacts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" y="2596896"/>
            <a:ext cx="54864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78608"/>
            <a:ext cx="385876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alarm → fan + cooling automatically activated within 1 second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" y="3255264"/>
            <a:ext cx="54864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36976"/>
            <a:ext cx="385876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open event → WARNING alert published immediately to all subscribers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508760"/>
            <a:ext cx="4206240" cy="2651760"/>
          </a:xfrm>
          <a:prstGeom prst="rect">
            <a:avLst/>
          </a:prstGeom>
          <a:solidFill>
            <a:srgbClr val="1F293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508760"/>
            <a:ext cx="45720" cy="2651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554480"/>
            <a:ext cx="402336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USED THE IOT BROKER: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73168" y="1993392"/>
            <a:ext cx="128016" cy="128016"/>
          </a:xfrm>
          <a:prstGeom prst="line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1956816"/>
            <a:ext cx="37947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public MQTT broker — lightweight, no infrastructure required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73168" y="2542032"/>
            <a:ext cx="128016" cy="128016"/>
          </a:xfrm>
          <a:prstGeom prst="line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2505456"/>
            <a:ext cx="37947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topic prefix prevents collisions on shared broker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73168" y="3090672"/>
            <a:ext cx="128016" cy="128016"/>
          </a:xfrm>
          <a:prstGeom prst="line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3054096"/>
            <a:ext cx="37947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1 ensures message delivery even under unstable connection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73168" y="3639312"/>
            <a:ext cx="128016" cy="128016"/>
          </a:xfrm>
          <a:prstGeom prst="line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3602736"/>
            <a:ext cx="37947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port 8000 allows browser-based monitoring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4279392"/>
            <a:ext cx="868680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288536"/>
            <a:ext cx="85039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TLS security  ·  Cloud DB  ·  Mobile alerts  ·  Grafana  ·  Real hardware (RPi)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BIBLIOGRAPHY AND SOURCES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22860"/>
          </a:xfrm>
          <a:prstGeom prst="rect">
            <a:avLst/>
          </a:prstGeom>
          <a:solidFill>
            <a:srgbClr val="8B5C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5546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Room Safety  ·  IoT Course Project  ·  HiveMQ · MQTT · Python · SQLite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932688"/>
            <a:ext cx="8686800" cy="36576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978408"/>
            <a:ext cx="38404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" y="978408"/>
            <a:ext cx="81381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Documentation — https://www.hivemq.com/docs/hivemq/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353312"/>
            <a:ext cx="8686800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399032"/>
            <a:ext cx="38404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" y="1399032"/>
            <a:ext cx="81381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paho-mqtt Python Client — https://pypi.org/project/paho-mqtt/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773936"/>
            <a:ext cx="8686800" cy="36576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1819656"/>
            <a:ext cx="38404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" y="1819656"/>
            <a:ext cx="81381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Protocol Specification v3.1.1 — https://docs.oasis-open.org/mqtt/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194560"/>
            <a:ext cx="8686800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240280"/>
            <a:ext cx="38404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2240280"/>
            <a:ext cx="81381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Temperature &amp; Humidity Sensor Datasheet — Aosong Electronics Co.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615184"/>
            <a:ext cx="8686800" cy="36576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2660904"/>
            <a:ext cx="38404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" y="2660904"/>
            <a:ext cx="81381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Combustible Gas Sensor Datasheet — Hanwei Electronics Co.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3035808"/>
            <a:ext cx="8686800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3081528"/>
            <a:ext cx="38404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3232" y="3081528"/>
            <a:ext cx="81381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MQ-135 Air Quality Sensor Datasheet — Hanwei Electronics Co.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3456432"/>
            <a:ext cx="8686800" cy="36576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3502152"/>
            <a:ext cx="38404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" y="3502152"/>
            <a:ext cx="81381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sqlite3 Library — https://docs.python.org/3/library/sqlite3.html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3877056"/>
            <a:ext cx="8686800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3922776"/>
            <a:ext cx="38404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[8]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" y="3922776"/>
            <a:ext cx="81381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tkinter GUI Library — https://docs.python.org/3/library/tkinter.html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" y="4297680"/>
            <a:ext cx="8686800" cy="36576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" y="4343400"/>
            <a:ext cx="38404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[9]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3232" y="4343400"/>
            <a:ext cx="81381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WebSocket Client — https://www.hivemq.com/demos/websocket-client/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9FAFB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&amp; DEVELOPMENT STAGES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22860"/>
          </a:xfrm>
          <a:prstGeom prst="rect">
            <a:avLst/>
          </a:prstGeom>
          <a:solidFill>
            <a:srgbClr val="8B5C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68680"/>
            <a:ext cx="347472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68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B1120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886968"/>
            <a:ext cx="82296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DEFINE REQUIREMENTS &amp; SENSOR SELECTION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04672" y="1280160"/>
            <a:ext cx="54864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252728"/>
            <a:ext cx="78638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Define monitored parameters: temperature, humidity, smoke, CO2, door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4672" y="1572768"/>
            <a:ext cx="54864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1545336"/>
            <a:ext cx="78638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Choose alert thresholds for WARNING and ALARM levels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28600" y="1856232"/>
            <a:ext cx="347472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1856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B1120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1874520"/>
            <a:ext cx="82296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DESIGN MQTT ARCHITECTURE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04672" y="2267712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2240280"/>
            <a:ext cx="78638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Define unique topic structure with project prefix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04672" y="2560320"/>
            <a:ext cx="54864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2532888"/>
            <a:ext cx="78638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Choose HiveMQ public broker (TCP 1883 / WebSocket 8000)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28600" y="2843784"/>
            <a:ext cx="347472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843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B1120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" y="2862072"/>
            <a:ext cx="82296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DEVELOP PYTHON MODULES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04672" y="3255264"/>
            <a:ext cx="54864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3227832"/>
            <a:ext cx="78638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Sensor emulators (dht, smoke, button) with realistic simulation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04672" y="3547872"/>
            <a:ext cx="54864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3520440"/>
            <a:ext cx="78638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manager: threshold engine + auto-remediation + SQLite logging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04672" y="3840480"/>
            <a:ext cx="54864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9918" y="3790188"/>
            <a:ext cx="78638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GUI dashboard: live display of all sensor values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7" name="קבוצה 36"/>
          <p:cNvGrpSpPr/>
          <p:nvPr/>
        </p:nvGrpSpPr>
        <p:grpSpPr>
          <a:xfrm>
            <a:off x="155448" y="4133088"/>
            <a:ext cx="8641080" cy="932688"/>
            <a:chOff x="228600" y="3831336"/>
            <a:chExt cx="8641080" cy="932688"/>
          </a:xfrm>
        </p:grpSpPr>
        <p:sp>
          <p:nvSpPr>
            <p:cNvPr id="30" name="Shape 28"/>
            <p:cNvSpPr/>
            <p:nvPr/>
          </p:nvSpPr>
          <p:spPr>
            <a:xfrm>
              <a:off x="246888" y="3840480"/>
              <a:ext cx="347472" cy="347472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000000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228600" y="3831336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B1120"/>
                  </a:solidFill>
                  <a:effectLst/>
                  <a:uLnTx/>
                  <a:uFillTx/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4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640080" y="3849624"/>
              <a:ext cx="8229600" cy="31089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59E0B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INTEGRATE AND TEST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804672" y="4242816"/>
              <a:ext cx="54864" cy="164592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000000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932688" y="4215384"/>
              <a:ext cx="786384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9CA3AF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Run all modules simultaneously via run_all.py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Shape 33"/>
            <p:cNvSpPr/>
            <p:nvPr/>
          </p:nvSpPr>
          <p:spPr>
            <a:xfrm>
              <a:off x="804672" y="4535424"/>
              <a:ext cx="54864" cy="164592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000000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932688" y="4507992"/>
              <a:ext cx="786384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9CA3AF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Verify alerts, relay commands, and DB logging with multiple scenarios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9537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7425</TotalTime>
  <Words>1638</Words>
  <Application>Microsoft Office PowerPoint</Application>
  <PresentationFormat>‫הצגה על המסך (16:9)</PresentationFormat>
  <Paragraphs>317</Paragraphs>
  <Slides>13</Slides>
  <Notes>13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Trebuchet MS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pc</cp:lastModifiedBy>
  <cp:revision>10</cp:revision>
  <dcterms:created xsi:type="dcterms:W3CDTF">2026-06-04T13:07:47Z</dcterms:created>
  <dcterms:modified xsi:type="dcterms:W3CDTF">2026-06-09T16:55:18Z</dcterms:modified>
</cp:coreProperties>
</file>